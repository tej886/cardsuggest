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37160" cy="2286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CardSuggest.in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29BFE"/>
                </a:solidFill>
                <a:latin typeface="Calibri"/>
              </a:defRPr>
            </a:pPr>
            <a:r>
              <a:t>India's Smartest Credit Card 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2BEC3"/>
                </a:solidFill>
                <a:latin typeface="Calibri"/>
              </a:defRPr>
            </a:pPr>
            <a:r>
              <a:t>Affiliate Partnership Proposal  |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2BEC3"/>
                </a:solidFill>
                <a:latin typeface="Calibri"/>
              </a:defRPr>
            </a:pPr>
            <a:r>
              <a:t>HDFC  ·  ICICI  ·  Axis  ·  HSBC  ·  BOB  ·  SBI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6E72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9BF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Consumers Choose Cards Blindly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303520" cy="1188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1188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 Personalization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Most card comparison sites show generic 'Top 10' lists. No one asks about YOUR spending habits or reward goals.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46120"/>
            <a:ext cx="5303520" cy="1188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246120"/>
            <a:ext cx="73152" cy="1188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832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Poor Card-User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3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Users pick cards based on bank relationship or friend suggestions — not based on which card maximizes their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63440"/>
            <a:ext cx="5303520" cy="1188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663440"/>
            <a:ext cx="73152" cy="1188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High Acquisition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6635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Banks spend Rs.1,500-4,000 per customer through DSA channels with only 30-45% approval rates.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1828800"/>
            <a:ext cx="2286000" cy="1188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0" y="1828800"/>
            <a:ext cx="228600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0574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C5CE7"/>
                </a:solidFill>
                <a:latin typeface="Calibri"/>
              </a:defRPr>
            </a:pPr>
            <a:r>
              <a:t>105M+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606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2BEC3"/>
                </a:solidFill>
                <a:latin typeface="Calibri"/>
              </a:defRPr>
            </a:pPr>
            <a:r>
              <a:t>Active Credit Cards</a:t>
            </a:r>
            <a:br/>
            <a:r>
              <a:t>in India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828800"/>
            <a:ext cx="2286000" cy="1188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28600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59" y="20574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C5CE7"/>
                </a:solidFill>
                <a:latin typeface="Calibri"/>
              </a:defRPr>
            </a:pPr>
            <a:r>
              <a:t>18M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59" y="2606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2BEC3"/>
                </a:solidFill>
                <a:latin typeface="Calibri"/>
              </a:defRPr>
            </a:pPr>
            <a:r>
              <a:t>New Cards Issued</a:t>
            </a:r>
            <a:br/>
            <a:r>
              <a:t>Annually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3246120"/>
            <a:ext cx="2286000" cy="1188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3246120"/>
            <a:ext cx="2286000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474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CEC9"/>
                </a:solidFill>
                <a:latin typeface="Calibri"/>
              </a:defRPr>
            </a:pPr>
            <a:r>
              <a:t>3.2M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0233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2BEC3"/>
                </a:solidFill>
                <a:latin typeface="Calibri"/>
              </a:defRPr>
            </a:pPr>
            <a:r>
              <a:t>Monthly Google Searches</a:t>
            </a:r>
            <a:br/>
            <a:r>
              <a:t>for 'Best Credit Card'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3246120"/>
            <a:ext cx="2286000" cy="1188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26880" y="3246120"/>
            <a:ext cx="2286000" cy="54864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59" y="3474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DCB6E"/>
                </a:solidFill>
                <a:latin typeface="Calibri"/>
              </a:defRPr>
            </a:pPr>
            <a:r>
              <a:t>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59" y="40233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2BEC3"/>
                </a:solidFill>
                <a:latin typeface="Calibri"/>
              </a:defRPr>
            </a:pPr>
            <a:r>
              <a:t>Credit Card</a:t>
            </a:r>
            <a:br/>
            <a:r>
              <a:t>Penetration in India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7548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9BFE"/>
                </a:solidFill>
                <a:latin typeface="Calibri"/>
              </a:defRPr>
            </a:pPr>
            <a:r>
              <a:t>Yet no trusted platform recommends cards based on individual spending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9BFE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CardSuggest.in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2BEC3"/>
                </a:solidFill>
                <a:latin typeface="Calibri"/>
              </a:defRPr>
            </a:pPr>
            <a:r>
              <a:t>A personalized credit card recommendation engine that matches</a:t>
            </a:r>
            <a:br/>
            <a:r>
              <a:t>Indian consumers with the right card in under 60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2651760" cy="25603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265176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834639"/>
            <a:ext cx="457200" cy="457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Income Profiling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>
                <a:solidFill>
                  <a:srgbClr val="B2BEC3"/>
                </a:solidFill>
                <a:latin typeface="Calibri"/>
              </a:defRPr>
            </a:pPr>
            <a:r>
              <a:t>User selects annual income range</a:t>
            </a:r>
            <a:br/>
            <a:r>
              <a:t>and employment type to filter</a:t>
            </a:r>
            <a:br/>
            <a:r>
              <a:t>eligible cards automatically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560320"/>
            <a:ext cx="2651760" cy="25603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0" y="2560320"/>
            <a:ext cx="2651760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23360" y="2834639"/>
            <a:ext cx="457200" cy="457200"/>
          </a:xfrm>
          <a:prstGeom prst="ellipse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Spending Mapper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886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>
                <a:solidFill>
                  <a:srgbClr val="B2BEC3"/>
                </a:solidFill>
                <a:latin typeface="Calibri"/>
              </a:defRPr>
            </a:pPr>
            <a:r>
              <a:t>Interactive input for monthly spend</a:t>
            </a:r>
            <a:br/>
            <a:r>
              <a:t>across 7 key categories — groceries,</a:t>
            </a:r>
            <a:br/>
            <a:r>
              <a:t>dining, fuel, shopping, travel &amp; more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2560320"/>
            <a:ext cx="2651760" cy="25603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560320"/>
            <a:ext cx="2651760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32320" y="2834639"/>
            <a:ext cx="457200" cy="4572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Goal Selector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886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>
                <a:solidFill>
                  <a:srgbClr val="B2BEC3"/>
                </a:solidFill>
                <a:latin typeface="Calibri"/>
              </a:defRPr>
            </a:pPr>
            <a:r>
              <a:t>Pick up to 3 reward preferences:</a:t>
            </a:r>
            <a:br/>
            <a:r>
              <a:t>cashback, airline miles, hotel points,</a:t>
            </a:r>
            <a:br/>
            <a:r>
              <a:t>lounge access, fuel savings, etc.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2560320"/>
            <a:ext cx="2651760" cy="25603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0" y="2560320"/>
            <a:ext cx="2651760" cy="54864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1280" y="2834639"/>
            <a:ext cx="457200" cy="457200"/>
          </a:xfrm>
          <a:prstGeom prst="ellipse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Smart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886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>
                <a:solidFill>
                  <a:srgbClr val="B2BEC3"/>
                </a:solidFill>
                <a:latin typeface="Calibri"/>
              </a:defRPr>
            </a:pPr>
            <a:r>
              <a:t>Algorithm scores 28+ cards across</a:t>
            </a:r>
            <a:br/>
            <a:r>
              <a:t>eligibility, reward value, and goal fit.</a:t>
            </a:r>
            <a:br/>
            <a:r>
              <a:t>Shows estimated annual reward value.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solidFill>
            <a:srgbClr val="5A4B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28 Cards  |  6 Banks  |  7 Spending Categories  |  8 Goal Types  |  Under 60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9BFE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4-Step Smart Wizard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560320" cy="38404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60320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300" b="0">
                <a:solidFill>
                  <a:srgbClr val="B2BEC3"/>
                </a:solidFill>
                <a:latin typeface="Calibri"/>
              </a:defRPr>
            </a:pPr>
            <a:r>
              <a:t>Income range</a:t>
            </a:r>
            <a:br/>
            <a:r>
              <a:t>Employment type</a:t>
            </a:r>
            <a:br/>
            <a:br/>
            <a:r>
              <a:t>Filters eligible cards</a:t>
            </a:r>
            <a:br/>
            <a:r>
              <a:t>automatically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59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29BFE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1828800"/>
            <a:ext cx="2560320" cy="38404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828800"/>
            <a:ext cx="2560320" cy="82296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92608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300" b="0">
                <a:solidFill>
                  <a:srgbClr val="B2BEC3"/>
                </a:solidFill>
                <a:latin typeface="Calibri"/>
              </a:defRPr>
            </a:pPr>
            <a:r>
              <a:t>Monthly spends across:</a:t>
            </a:r>
            <a:br/>
            <a:r>
              <a:t>Groceries, Dining, Fuel</a:t>
            </a:r>
            <a:br/>
            <a:r>
              <a:t>Shopping, Travel</a:t>
            </a:r>
            <a:br/>
            <a:r>
              <a:t>Utilities, Entertainment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29BFE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60320" cy="38404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828800"/>
            <a:ext cx="2560320" cy="82296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Goals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292608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300" b="0">
                <a:solidFill>
                  <a:srgbClr val="B2BEC3"/>
                </a:solidFill>
                <a:latin typeface="Calibri"/>
              </a:defRPr>
            </a:pPr>
            <a:r>
              <a:t>Pick up to 3 from:</a:t>
            </a:r>
            <a:br/>
            <a:r>
              <a:t>Cashback, Airlines</a:t>
            </a:r>
            <a:br/>
            <a:r>
              <a:t>Hotels, Lounge</a:t>
            </a:r>
            <a:br/>
            <a:r>
              <a:t>Fuel, Shopping</a:t>
            </a:r>
            <a:br/>
            <a:r>
              <a:t>Dining, Premium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29BFE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1828800"/>
            <a:ext cx="2560320" cy="38404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72600" y="1828800"/>
            <a:ext cx="2560320" cy="822960"/>
          </a:xfrm>
          <a:prstGeom prst="rect">
            <a:avLst/>
          </a:prstGeom>
          <a:solidFill>
            <a:srgbClr val="FD7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92608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300" b="0">
                <a:solidFill>
                  <a:srgbClr val="B2BEC3"/>
                </a:solidFill>
                <a:latin typeface="Calibri"/>
              </a:defRPr>
            </a:pPr>
            <a:r>
              <a:t>Ranked top 8 cards</a:t>
            </a:r>
            <a:br/>
            <a:r>
              <a:t>Match percentage</a:t>
            </a:r>
            <a:br/>
            <a:r>
              <a:t>Est. annual rewards</a:t>
            </a:r>
            <a:br/>
            <a:r>
              <a:t>Net value after fee</a:t>
            </a:r>
            <a:br/>
            <a:r>
              <a:t>APPLY NOW button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2BEC3"/>
                </a:solidFill>
                <a:latin typeface="Calibri"/>
              </a:defRPr>
            </a:pPr>
            <a:r>
              <a:t>Average time to recommendation: Under 60 seconds  |  No registration required  |  No data stored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9BFE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India's Credit Card Boom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560320" cy="12801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256032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C5CE7"/>
                </a:solidFill>
                <a:latin typeface="Calibri"/>
              </a:defRPr>
            </a:pPr>
            <a:r>
              <a:t>105M+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2BEC3"/>
                </a:solidFill>
                <a:latin typeface="Calibri"/>
              </a:defRPr>
            </a:pPr>
            <a:r>
              <a:t>Active Credit Cards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1737360"/>
            <a:ext cx="2560320" cy="12801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11880" y="1737360"/>
            <a:ext cx="2560320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1965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CEC9"/>
                </a:solidFill>
                <a:latin typeface="Calibri"/>
              </a:defRPr>
            </a:pPr>
            <a:r>
              <a:t>18-20%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2BEC3"/>
                </a:solidFill>
                <a:latin typeface="Calibri"/>
              </a:defRPr>
            </a:pPr>
            <a:r>
              <a:t>Year-on-Year 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737360"/>
            <a:ext cx="2560320" cy="12801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737360"/>
            <a:ext cx="2560320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65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894"/>
                </a:solidFill>
                <a:latin typeface="Calibri"/>
              </a:defRPr>
            </a:pPr>
            <a:r>
              <a:t>18M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2BEC3"/>
                </a:solidFill>
                <a:latin typeface="Calibri"/>
              </a:defRPr>
            </a:pPr>
            <a:r>
              <a:t>New Cards Issued</a:t>
            </a:r>
            <a:br/>
            <a:r>
              <a:t>Annually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2600" y="1737360"/>
            <a:ext cx="2560320" cy="12801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72600" y="1737360"/>
            <a:ext cx="2560320" cy="54864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1965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DCB6E"/>
                </a:solidFill>
                <a:latin typeface="Calibri"/>
              </a:defRPr>
            </a:pPr>
            <a:r>
              <a:t>Rs.1.7L Cr+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2BEC3"/>
                </a:solidFill>
                <a:latin typeface="Calibri"/>
              </a:defRPr>
            </a:pPr>
            <a:r>
              <a:t>Monthly Transaction</a:t>
            </a:r>
            <a:br/>
            <a:r>
              <a:t>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29BFE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94760"/>
            <a:ext cx="73152" cy="5029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794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Digital Payments Boom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0416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UPI normalization has made Indians comfortable with digital finance. Credit cards are the next upgrade.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480560"/>
            <a:ext cx="73152" cy="5029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80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Rising Affluent Middle 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7274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580M middle class by 2030 — the core credit card market.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166360"/>
            <a:ext cx="73152" cy="5029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166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Information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4132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No trusted, unbiased platform recommends cards based on individual spending patterns.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794760"/>
            <a:ext cx="73152" cy="5029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794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High Bank Acquisition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0416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Banks spend Rs.1,500-4,000/customer via DSA. Digital leads are 30-50% cheaper.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480560"/>
            <a:ext cx="73152" cy="5029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4480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Reward Consciousness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7274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'Credit card rewards' has 2M+ monthly Google searches in India.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9BFE"/>
                </a:solidFill>
                <a:latin typeface="Calibri"/>
              </a:defRPr>
            </a:pPr>
            <a:r>
              <a:t>CARD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28 Cards Across 6 Major Banks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3108960" cy="19202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10896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HDFC Bank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920240"/>
            <a:ext cx="731520" cy="2743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39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200" b="0">
                <a:solidFill>
                  <a:srgbClr val="B2BEC3"/>
                </a:solidFill>
                <a:latin typeface="Calibri"/>
              </a:defRPr>
            </a:pPr>
            <a:r>
              <a:t>Infinia, Diners Club Black,</a:t>
            </a:r>
            <a:br/>
            <a:r>
              <a:t>Regalia Gold, Regalia,</a:t>
            </a:r>
            <a:br/>
            <a:r>
              <a:t>Millennia, MoneyBack+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737360"/>
            <a:ext cx="3108960" cy="19202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737360"/>
            <a:ext cx="3108960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ICICI Bank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920240"/>
            <a:ext cx="731520" cy="27432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39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200" b="0">
                <a:solidFill>
                  <a:srgbClr val="B2BEC3"/>
                </a:solidFill>
                <a:latin typeface="Calibri"/>
              </a:defRPr>
            </a:pPr>
            <a:r>
              <a:t>Emeralde (AMEX), Sapphiro,</a:t>
            </a:r>
            <a:br/>
            <a:r>
              <a:t>Amazon Pay, Rubyx, Coral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737360"/>
            <a:ext cx="3108960" cy="19202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737360"/>
            <a:ext cx="3108960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Axis Bank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1920240"/>
            <a:ext cx="731520" cy="2743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 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377439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200" b="0">
                <a:solidFill>
                  <a:srgbClr val="B2BEC3"/>
                </a:solidFill>
                <a:latin typeface="Calibri"/>
              </a:defRPr>
            </a:pPr>
            <a:r>
              <a:t>Magnus, Reserve,</a:t>
            </a:r>
            <a:br/>
            <a:r>
              <a:t>Flipkart, ACE, Vistara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31920"/>
            <a:ext cx="3108960" cy="19202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31920"/>
            <a:ext cx="3108960" cy="54864"/>
          </a:xfrm>
          <a:prstGeom prst="rect">
            <a:avLst/>
          </a:prstGeom>
          <a:solidFill>
            <a:srgbClr val="FD7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SBI Card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114800"/>
            <a:ext cx="731520" cy="274320"/>
          </a:xfrm>
          <a:prstGeom prst="rect">
            <a:avLst/>
          </a:prstGeom>
          <a:solidFill>
            <a:srgbClr val="FD7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 Cards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200" b="0">
                <a:solidFill>
                  <a:srgbClr val="B2BEC3"/>
                </a:solidFill>
                <a:latin typeface="Calibri"/>
              </a:defRPr>
            </a:pPr>
            <a:r>
              <a:t>ELITE, PRIME,</a:t>
            </a:r>
            <a:br/>
            <a:r>
              <a:t>SimplyCLICK, SimplySAVE,</a:t>
            </a:r>
            <a:br/>
            <a:r>
              <a:t>BPCL, Air India Signature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931920"/>
            <a:ext cx="3108960" cy="19202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3931920"/>
            <a:ext cx="3108960" cy="54864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HSBC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114800"/>
            <a:ext cx="731520" cy="27432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 Cards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572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200" b="0">
                <a:solidFill>
                  <a:srgbClr val="B2BEC3"/>
                </a:solidFill>
                <a:latin typeface="Calibri"/>
              </a:defRPr>
            </a:pPr>
            <a:r>
              <a:t>Cashback, Smart Value,</a:t>
            </a:r>
            <a:br/>
            <a:r>
              <a:t>TravelOne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3931920"/>
            <a:ext cx="3108960" cy="19202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80960" y="3931920"/>
            <a:ext cx="3108960" cy="54864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Bank of Baroda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4114800"/>
            <a:ext cx="731520" cy="2743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 Cards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572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200" b="0">
                <a:solidFill>
                  <a:srgbClr val="B2BEC3"/>
                </a:solidFill>
                <a:latin typeface="Calibri"/>
              </a:defRPr>
            </a:pPr>
            <a:r>
              <a:t>Eterna, Premier, Select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E72"/>
                </a:solidFill>
                <a:latin typeface="Calibri"/>
              </a:defRPr>
            </a:pPr>
            <a:r>
              <a:t>Coverage includes transfer partners: Marriott Bonvoy, Singapore Airlines KrisFlyer, British Airways Avios, InterMiles, Air France/KLM Flying Blue, Turkish Airlines, ITC Hotels &amp; more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9BFE"/>
                </a:solidFill>
                <a:latin typeface="Calibri"/>
              </a:defRPr>
            </a:pPr>
            <a:r>
              <a:t>VALUE FOR PARTNER BANKS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Partner With CardSuggest?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212080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16459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2BEC3"/>
                </a:solidFill>
                <a:latin typeface="Calibri"/>
              </a:defRPr>
            </a:pPr>
            <a:r>
              <a:t>Lead Cost (CAC)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894"/>
                </a:solidFill>
                <a:latin typeface="Calibri"/>
              </a:defRPr>
            </a:pPr>
            <a:r>
              <a:t>30-50% Lower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B2BEC3"/>
                </a:solidFill>
                <a:latin typeface="Calibri"/>
              </a:defRPr>
            </a:pPr>
            <a:r>
              <a:t>Rs.1,500-4,000</a:t>
            </a:r>
            <a:br/>
            <a:r>
              <a:t>vs DSA/Telecalling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828800"/>
            <a:ext cx="5212080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828800"/>
            <a:ext cx="73152" cy="16459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2BEC3"/>
                </a:solidFill>
                <a:latin typeface="Calibri"/>
              </a:defRPr>
            </a:pPr>
            <a:r>
              <a:t>Approval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C5CE7"/>
                </a:solidFill>
                <a:latin typeface="Calibri"/>
              </a:defRPr>
            </a:pPr>
            <a:r>
              <a:t>55-70%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59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B2BEC3"/>
                </a:solidFill>
                <a:latin typeface="Calibri"/>
              </a:defRPr>
            </a:pPr>
            <a:r>
              <a:t>30-45%</a:t>
            </a:r>
            <a:br/>
            <a:r>
              <a:t>vs Industry Average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5212080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73152" cy="164592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2BEC3"/>
                </a:solidFill>
                <a:latin typeface="Calibri"/>
              </a:defRPr>
            </a:pPr>
            <a:r>
              <a:t>Card Activation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65-80%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2062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B2BEC3"/>
                </a:solidFill>
                <a:latin typeface="Calibri"/>
              </a:defRPr>
            </a:pPr>
            <a:r>
              <a:t>40-50%</a:t>
            </a:r>
            <a:br/>
            <a:r>
              <a:t>vs Industry Average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3749039"/>
            <a:ext cx="5212080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3749039"/>
            <a:ext cx="73152" cy="164592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2BEC3"/>
                </a:solidFill>
                <a:latin typeface="Calibri"/>
              </a:defRPr>
            </a:pPr>
            <a:r>
              <a:t>12-Month Retention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DCB6E"/>
                </a:solidFill>
                <a:latin typeface="Calibri"/>
              </a:defRPr>
            </a:pPr>
            <a:r>
              <a:t>80-90%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59" y="42062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B2BEC3"/>
                </a:solidFill>
                <a:latin typeface="Calibri"/>
              </a:defRPr>
            </a:pPr>
            <a:r>
              <a:t>60-70%</a:t>
            </a:r>
            <a:br/>
            <a:r>
              <a:t>vs Industry Average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solidFill>
            <a:srgbClr val="5A4B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Zero upfront cost — pure performance-based CPA model. Pay only for approved card applications.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9BFE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Affiliate Commission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29BFE"/>
                </a:solidFill>
                <a:latin typeface="Calibri"/>
              </a:defRPr>
            </a:pPr>
            <a:r>
              <a:t>COMMISSION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29200" cy="6400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Cost Per Lead (CPL)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103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C5CE7"/>
                </a:solidFill>
                <a:latin typeface="Calibri"/>
              </a:defRPr>
            </a:pPr>
            <a:r>
              <a:t>Rs.200-500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Per application submitted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5029200" cy="6400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Cost Per Approval (CPA)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80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C5CE7"/>
                </a:solidFill>
                <a:latin typeface="Calibri"/>
              </a:defRPr>
            </a:pPr>
            <a:r>
              <a:t>Rs.800-3,000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Per approved &amp; shipped card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5029200" cy="6400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Revenue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657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C5CE7"/>
                </a:solidFill>
                <a:latin typeface="Calibri"/>
              </a:defRPr>
            </a:pPr>
            <a:r>
              <a:t>0.5-1.5%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Of first-year card 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29BFE"/>
                </a:solidFill>
                <a:latin typeface="Calibri"/>
              </a:defRPr>
            </a:pPr>
            <a:r>
              <a:t>EXPECTED COMMISSION BY CARD TIER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011680"/>
            <a:ext cx="5029200" cy="8686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011680"/>
            <a:ext cx="73152" cy="86868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Super Premium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1031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DCB6E"/>
                </a:solidFill>
                <a:latin typeface="Calibri"/>
              </a:defRPr>
            </a:pPr>
            <a:r>
              <a:t>Rs.2,500-5,000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2BEC3"/>
                </a:solidFill>
                <a:latin typeface="Calibri"/>
              </a:defRPr>
            </a:pPr>
            <a:r>
              <a:t>Infinia, Magnus, Emeralde, Reserve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017520"/>
            <a:ext cx="5029200" cy="8686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017520"/>
            <a:ext cx="73152" cy="8686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108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Premium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108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C5CE7"/>
                </a:solidFill>
                <a:latin typeface="Calibri"/>
              </a:defRPr>
            </a:pPr>
            <a:r>
              <a:t>Rs.1,500-2,500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2BEC3"/>
                </a:solidFill>
                <a:latin typeface="Calibri"/>
              </a:defRPr>
            </a:pPr>
            <a:r>
              <a:t>Diners Black, Sapphiro, ELITE, Eterna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023360"/>
            <a:ext cx="5029200" cy="8686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023360"/>
            <a:ext cx="73152" cy="86868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114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Mid-Premium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114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CEC9"/>
                </a:solidFill>
                <a:latin typeface="Calibri"/>
              </a:defRPr>
            </a:pPr>
            <a:r>
              <a:t>Rs.1,000-1,500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2BEC3"/>
                </a:solidFill>
                <a:latin typeface="Calibri"/>
              </a:defRPr>
            </a:pPr>
            <a:r>
              <a:t>Regalia, Rubyx, PRIME, Premier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029200"/>
            <a:ext cx="5029200" cy="8686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5029200"/>
            <a:ext cx="73152" cy="8686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120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1206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B894"/>
                </a:solidFill>
                <a:latin typeface="Calibri"/>
              </a:defRPr>
            </a:pPr>
            <a:r>
              <a:t>Rs.500-1,000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440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2BEC3"/>
                </a:solidFill>
                <a:latin typeface="Calibri"/>
              </a:defRPr>
            </a:pPr>
            <a:r>
              <a:t>Millennia, Amazon Pay, ACE, SimplyCLICK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949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Average blended commission: Rs.1,200-1,400 per approved card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7607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2BEC3"/>
                </a:solidFill>
                <a:latin typeface="Calibri"/>
              </a:defRPr>
            </a:pPr>
            <a:r>
              <a:t>Performance-based model means banks pay only for results — zero risk, maximum ROI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9BFE"/>
                </a:solidFill>
                <a:latin typeface="Calibri"/>
              </a:defRPr>
            </a:pPr>
            <a:r>
              <a:t>FINANCIAL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Growth Trajectory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3383280" cy="4114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38328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E7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Rs.2.41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2BEC3"/>
                </a:solidFill>
                <a:latin typeface="Calibri"/>
              </a:defRPr>
            </a:pPr>
            <a:r>
              <a:t>18,750 Applications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108960"/>
            <a:ext cx="2834640" cy="18288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  Q1: Rs.7.2L (600 apps)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  Q2: Rs.27L (2,250 apps)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  Q3: Rs.70L (5,400 apps)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5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  Q4: Rs.1.37Cr (10,500 apps)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1737360"/>
            <a:ext cx="3383280" cy="4114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1737360"/>
            <a:ext cx="3383280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EC9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240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Rs.13-42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43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2BEC3"/>
                </a:solidFill>
                <a:latin typeface="Calibri"/>
              </a:defRPr>
            </a:pPr>
            <a:r>
              <a:t>96K-300K Applications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79" y="3108960"/>
            <a:ext cx="2834640" cy="18288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  200K-500K monthly visitors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  4-5% conversion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931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  Rs.1,400 avg commission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25195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  Fintech API partnerships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737360"/>
            <a:ext cx="3383280" cy="4114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737360"/>
            <a:ext cx="3383280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894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240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Rs.70 Cr+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743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2BEC3"/>
                </a:solidFill>
                <a:latin typeface="Calibri"/>
              </a:defRPr>
            </a:pPr>
            <a:r>
              <a:t>500K+ Applications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3108960"/>
            <a:ext cx="2834640" cy="18288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  1M+ monthly visitors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  API/Widget revenue stream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931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  Mobile app launch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25195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  Expand to 50+ cards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solidFill>
            <a:srgbClr val="5A4B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Break-even: Month 8-10  |  Year 1 Cost: Rs.1.2 Cr  |  Year 1 Revenue: Rs.2.41 Cr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9BFE"/>
                </a:solidFill>
                <a:latin typeface="Calibri"/>
              </a:defRPr>
            </a:pPr>
            <a:r>
              <a:t>USER ACQUISITION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We Bring Users to Your Cards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383280" cy="3474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5CE7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Organic &amp; SEO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Months 1-6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264408"/>
            <a:ext cx="73152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172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50+ SEO comparison articles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675888"/>
            <a:ext cx="73152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584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YouTube card review channel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4087368"/>
            <a:ext cx="73152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9959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Reddit/Twitter community engagement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498848"/>
            <a:ext cx="73152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4074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Target: 50K visitors/month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1828800"/>
            <a:ext cx="3383280" cy="3474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59" y="1828800"/>
            <a:ext cx="3383280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EC9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Paid Acquisition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Months 3-12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79" y="3264408"/>
            <a:ext cx="73152" cy="73152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79" y="3172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Google Ads: Rs.3-5L/month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79" y="3675888"/>
            <a:ext cx="73152" cy="73152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79" y="3584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Instagram/Facebook: Rs.2-3L/month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79" y="4087368"/>
            <a:ext cx="73152" cy="73152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79" y="39959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YouTube pre-roll ads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79" y="4498848"/>
            <a:ext cx="73152" cy="73152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79" y="44074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Target: 200K visitors/month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828800"/>
            <a:ext cx="3383280" cy="3474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1828800"/>
            <a:ext cx="3383280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894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Scale &amp; Partners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Months 6-18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3264408"/>
            <a:ext cx="73152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3172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Finance influencer partnerships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3675888"/>
            <a:ext cx="73152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32520" y="3584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Fintech API integrations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4087368"/>
            <a:ext cx="73152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39959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CRED, Groww, ET Money widgets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4498848"/>
            <a:ext cx="73152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2520" y="44074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WhatsApp chatbot for reach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29BFE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852160"/>
            <a:ext cx="2560320" cy="6400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8704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2BEC3"/>
                </a:solidFill>
                <a:latin typeface="Calibri"/>
              </a:defRPr>
            </a:pPr>
            <a:r>
              <a:t>SEO/Organic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608076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DCB6E"/>
                </a:solidFill>
                <a:latin typeface="Calibri"/>
              </a:defRPr>
            </a:pPr>
            <a:r>
              <a:t>CAC: Rs.0-50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0" y="60807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894"/>
                </a:solidFill>
                <a:latin typeface="Calibri"/>
              </a:defRPr>
            </a:pPr>
            <a:r>
              <a:t>Earn: Rs.800-2,500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11880" y="5852160"/>
            <a:ext cx="2560320" cy="6400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40" y="58704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2BEC3"/>
                </a:solidFill>
                <a:latin typeface="Calibri"/>
              </a:defRPr>
            </a:pPr>
            <a:r>
              <a:t>Google Ads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40" y="608076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DCB6E"/>
                </a:solidFill>
                <a:latin typeface="Calibri"/>
              </a:defRPr>
            </a:pPr>
            <a:r>
              <a:t>CAC: Rs.200-400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2040" y="60807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894"/>
                </a:solidFill>
                <a:latin typeface="Calibri"/>
              </a:defRPr>
            </a:pPr>
            <a:r>
              <a:t>Earn: Rs.800-2,500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5852160"/>
            <a:ext cx="2560320" cy="6400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9400" y="58704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2BEC3"/>
                </a:solidFill>
                <a:latin typeface="Calibri"/>
              </a:defRPr>
            </a:pPr>
            <a:r>
              <a:t>Social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608076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DCB6E"/>
                </a:solidFill>
                <a:latin typeface="Calibri"/>
              </a:defRPr>
            </a:pPr>
            <a:r>
              <a:t>CAC: Rs.150-300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60807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894"/>
                </a:solidFill>
                <a:latin typeface="Calibri"/>
              </a:defRPr>
            </a:pPr>
            <a:r>
              <a:t>Earn: Rs.800-2,500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72600" y="5852160"/>
            <a:ext cx="2560320" cy="6400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760" y="58704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2BEC3"/>
                </a:solidFill>
                <a:latin typeface="Calibri"/>
              </a:defRPr>
            </a:pPr>
            <a:r>
              <a:t>Influencer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60" y="608076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DCB6E"/>
                </a:solidFill>
                <a:latin typeface="Calibri"/>
              </a:defRPr>
            </a:pPr>
            <a:r>
              <a:t>CAC: Rs.100-250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52760" y="60807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894"/>
                </a:solidFill>
                <a:latin typeface="Calibri"/>
              </a:defRPr>
            </a:pPr>
            <a:r>
              <a:t>Earn: Rs.800-2,500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9BFE"/>
                </a:solidFill>
                <a:latin typeface="Calibri"/>
              </a:defRPr>
            </a:pPr>
            <a:r>
              <a:t>PARTNERSHIP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We Need From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303520" cy="10515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057400"/>
            <a:ext cx="502920" cy="50292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9385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Affiliate Tracking Links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Unique URL for each card product so we can</a:t>
            </a:r>
            <a:br/>
            <a:r>
              <a:t>track and attribute every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5303520" cy="10515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3291840"/>
            <a:ext cx="502920" cy="502920"/>
          </a:xfrm>
          <a:prstGeom prst="ellipse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1729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CPA Commission Agreement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520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Standard terms for cost-per-approval</a:t>
            </a:r>
            <a:br/>
            <a:r>
              <a:t>compensation with agreed rates per card 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97680"/>
            <a:ext cx="5303520" cy="10515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4526280"/>
            <a:ext cx="502920" cy="50292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4074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Card Data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Confirm accuracy of our database for your</a:t>
            </a:r>
            <a:br/>
            <a:r>
              <a:t>cards: fees, rates, benefits, eligibility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32120"/>
            <a:ext cx="5303520" cy="10515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5760720"/>
            <a:ext cx="502920" cy="502920"/>
          </a:xfrm>
          <a:prstGeom prst="ellipse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6418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Brand Asset 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989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Calibri"/>
              </a:defRPr>
            </a:pPr>
            <a:r>
              <a:t>Permission to display your card imagery</a:t>
            </a:r>
            <a:br/>
            <a:r>
              <a:t>and branding on our recommendation platform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828800"/>
            <a:ext cx="4846320" cy="4114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1828800"/>
            <a:ext cx="484632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20116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29BFE"/>
                </a:solidFill>
                <a:latin typeface="Calibri"/>
              </a:defRPr>
            </a:pPr>
            <a:r>
              <a:t>WHAT YOU 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2542032"/>
            <a:ext cx="109728" cy="1097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24688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High-intent, pre-qualified leads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926080"/>
            <a:ext cx="109728" cy="1097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28529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Zero upfront cost — pay only for results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3310128"/>
            <a:ext cx="109728" cy="1097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32369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30-50% lower CAC than DSA channels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3694176"/>
            <a:ext cx="109728" cy="1097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362102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Higher approval &amp; activation rates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4078224"/>
            <a:ext cx="109728" cy="1097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40050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Rich attribution &amp; analytics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4462272"/>
            <a:ext cx="109728" cy="1097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4389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Positive, educational brand context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4846320"/>
            <a:ext cx="109728" cy="1097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47731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RBI-compliant transparent approach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5230368"/>
            <a:ext cx="109728" cy="1097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9480" y="515721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Ready to go live in 2 weeks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solidFill>
            <a:srgbClr val="5A4B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Ready to go live within 2 weeks of partnership agreement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37160" cy="13716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Let's Grow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2BEC3"/>
                </a:solidFill>
                <a:latin typeface="Calibri"/>
              </a:defRPr>
            </a:pPr>
            <a:r>
              <a:t>Partner with CardSuggest.in to reach millions of</a:t>
            </a:r>
            <a:br/>
            <a:r>
              <a:t>high-intent credit card seekers across India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023360"/>
            <a:ext cx="2743200" cy="7315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4023360"/>
            <a:ext cx="274320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41148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3891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partnerships@cardsuggest.in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023360"/>
            <a:ext cx="2743200" cy="7315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023360"/>
            <a:ext cx="274320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1148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2BEC3"/>
                </a:solidFill>
                <a:latin typeface="Calibri"/>
              </a:defRPr>
            </a:pPr>
            <a:r>
              <a:t>Website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3891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www.cardsuggest.in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29BFE"/>
                </a:solidFill>
                <a:latin typeface="Calibri"/>
              </a:defRPr>
            </a:pPr>
            <a:r>
              <a:t>CardSuggest.in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2BEC3"/>
                </a:solidFill>
                <a:latin typeface="Calibri"/>
              </a:defRPr>
            </a:pPr>
            <a:r>
              <a:t>India's Smartest Credit Card Advisor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6E72"/>
                </a:solidFill>
                <a:latin typeface="Calibri"/>
              </a:defRPr>
            </a:pPr>
            <a:r>
              <a:t>CONFIDENTIAL — For Partnership Discussion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